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570"/>
  </p:normalViewPr>
  <p:slideViewPr>
    <p:cSldViewPr snapToGrid="0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2D0FA-40A1-BF4E-A878-10FB77003DE9}" type="datetimeFigureOut">
              <a:rPr lang="en-MX" smtClean="0"/>
              <a:t>10/02/26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25DEC-7BDB-DD4C-8831-9231D7DB365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63539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25DEC-7BDB-DD4C-8831-9231D7DB3655}" type="slidenum">
              <a:rPr lang="en-MX" smtClean="0"/>
              <a:t>1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944933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61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3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13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0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5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3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07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4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2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3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72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DE3B669-D0C6-43C4-9D0E-ED152B12D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FF83-0232-B556-AC04-85DDCDF47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92" y="5448962"/>
            <a:ext cx="8888461" cy="706641"/>
          </a:xfrm>
        </p:spPr>
        <p:txBody>
          <a:bodyPr anchor="b">
            <a:normAutofit/>
          </a:bodyPr>
          <a:lstStyle/>
          <a:p>
            <a:r>
              <a:rPr lang="en-US" dirty="0"/>
              <a:t>Probability measure on random variables</a:t>
            </a:r>
            <a:endParaRPr lang="en-MX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DBBF5-1507-4630-0355-99F43C4D5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93" y="6191921"/>
            <a:ext cx="8888460" cy="365125"/>
          </a:xfrm>
        </p:spPr>
        <p:txBody>
          <a:bodyPr anchor="t">
            <a:normAutofit/>
          </a:bodyPr>
          <a:lstStyle/>
          <a:p>
            <a:r>
              <a:rPr lang="en-MX" sz="1600" dirty="0"/>
              <a:t>Scarlette Berenice Alcaraz Muñiz</a:t>
            </a: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1FE719E5-7A25-99AA-9F23-626A5C370B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626" b="25149"/>
          <a:stretch>
            <a:fillRect/>
          </a:stretch>
        </p:blipFill>
        <p:spPr>
          <a:xfrm>
            <a:off x="0" y="0"/>
            <a:ext cx="12192002" cy="514801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5D9F35-775B-4B73-BBB6-176A2E086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1741688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1E42EE-0105-F239-AF80-09A0340B3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0642" y="5398321"/>
            <a:ext cx="1841359" cy="1108074"/>
          </a:xfrm>
          <a:prstGeom prst="rect">
            <a:avLst/>
          </a:prstGeom>
        </p:spPr>
      </p:pic>
      <p:pic>
        <p:nvPicPr>
          <p:cNvPr id="1026" name="Picture 2" descr="Logo SEP Vertical – Tecnológico Nacional de México – Pinotepa">
            <a:extLst>
              <a:ext uri="{FF2B5EF4-FFF2-40B4-BE49-F238E27FC236}">
                <a16:creationId xmlns:a16="http://schemas.microsoft.com/office/drawing/2014/main" id="{3F0E9FDD-D221-AF52-8960-8838B3B0F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792" y="5541380"/>
            <a:ext cx="1521552" cy="82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07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5EEC-FF24-3D0A-5418-23E24CF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009" y="-527690"/>
            <a:ext cx="9950103" cy="150737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Probability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76889-6242-8127-2D23-3E3F7E297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948" y="1785677"/>
            <a:ext cx="9950103" cy="4137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Conditional probability measures the occurrence of an event </a:t>
            </a:r>
            <a:r>
              <a:rPr lang="en-US" b="1" dirty="0"/>
              <a:t>A</a:t>
            </a:r>
            <a:r>
              <a:rPr lang="en-US" dirty="0"/>
              <a:t>, given that an event </a:t>
            </a:r>
            <a:r>
              <a:rPr lang="en-US" b="1" dirty="0"/>
              <a:t>B </a:t>
            </a:r>
            <a:r>
              <a:rPr lang="en-US" dirty="0"/>
              <a:t>has already occurred.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MX" altLang="en-MX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MX" altLang="en-MX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MX" altLang="en-MX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MX" altLang="en-MX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MX" altLang="en-MX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MX" altLang="en-MX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MX" altLang="en-MX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MX" altLang="en-MX" dirty="0">
              <a:latin typeface="Arial" panose="020B0604020202020204" pitchFamily="34" charset="0"/>
            </a:endParaRPr>
          </a:p>
          <a:p>
            <a:pPr fontAlgn="base">
              <a:spcAft>
                <a:spcPct val="0"/>
              </a:spcAft>
            </a:pPr>
            <a:r>
              <a:rPr lang="en-MX" altLang="en-MX" sz="1400" dirty="0"/>
              <a:t>Event </a:t>
            </a:r>
            <a:r>
              <a:rPr lang="en-MX" altLang="en-MX" sz="1400" b="1" dirty="0"/>
              <a:t>B</a:t>
            </a:r>
            <a:r>
              <a:rPr lang="en-MX" altLang="en-MX" sz="1400" dirty="0"/>
              <a:t> becomes the new sample space. </a:t>
            </a:r>
          </a:p>
          <a:p>
            <a:pPr fontAlgn="base">
              <a:spcAft>
                <a:spcPct val="0"/>
              </a:spcAft>
            </a:pPr>
            <a:r>
              <a:rPr lang="en-MX" altLang="en-MX" sz="1400" dirty="0"/>
              <a:t>We no longer care about outcomes outside of </a:t>
            </a:r>
            <a:r>
              <a:rPr lang="en-MX" altLang="en-MX" sz="1400" b="1" dirty="0"/>
              <a:t>B</a:t>
            </a:r>
            <a:r>
              <a:rPr lang="en-MX" altLang="en-MX" sz="1400" dirty="0"/>
              <a:t>; the universe has "shrunk." </a:t>
            </a:r>
          </a:p>
          <a:p>
            <a:pPr fontAlgn="base">
              <a:spcAft>
                <a:spcPct val="0"/>
              </a:spcAft>
            </a:pPr>
            <a:r>
              <a:rPr lang="en-MX" altLang="en-MX" sz="1400" dirty="0"/>
              <a:t>Probability depends on the intersection relative to the size of </a:t>
            </a:r>
            <a:r>
              <a:rPr lang="en-MX" altLang="en-MX" sz="1400" b="1" dirty="0"/>
              <a:t>B</a:t>
            </a:r>
            <a:r>
              <a:rPr lang="en-MX" altLang="en-MX" sz="1400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Logo SEP Vertical – Tecnológico Nacional de México – Pinotepa">
            <a:extLst>
              <a:ext uri="{FF2B5EF4-FFF2-40B4-BE49-F238E27FC236}">
                <a16:creationId xmlns:a16="http://schemas.microsoft.com/office/drawing/2014/main" id="{74C02434-1615-0878-A174-311050D8E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65" y="119572"/>
            <a:ext cx="2506732" cy="135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226D3FE-B0EB-C1A9-AE74-5C5536366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061" y="-344810"/>
            <a:ext cx="3540369" cy="21304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2870B-EADD-DC40-5799-A4ABE09E9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155" y="3051660"/>
            <a:ext cx="4531707" cy="8028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7AAF39-766F-4781-A33D-7D8E5B5DD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4265" y="2473027"/>
            <a:ext cx="3179590" cy="226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31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D8F79-41F2-A6D5-2DCB-E801918E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CF25-12FB-00F7-2655-8F880DA0D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009" y="-527690"/>
            <a:ext cx="9950103" cy="150737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Probability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29FF-55EA-D5E5-04DC-46F0E19F1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948" y="1785677"/>
            <a:ext cx="9950103" cy="4137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Two events are independent if knowing </a:t>
            </a:r>
            <a:r>
              <a:rPr lang="en-US" b="1" dirty="0"/>
              <a:t>B</a:t>
            </a:r>
            <a:r>
              <a:rPr lang="en-US" dirty="0"/>
              <a:t> provides no information about </a:t>
            </a:r>
            <a:r>
              <a:rPr lang="en-US" b="1" dirty="0"/>
              <a:t>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				            Dependence         vs        Independence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Logo SEP Vertical – Tecnológico Nacional de México – Pinotepa">
            <a:extLst>
              <a:ext uri="{FF2B5EF4-FFF2-40B4-BE49-F238E27FC236}">
                <a16:creationId xmlns:a16="http://schemas.microsoft.com/office/drawing/2014/main" id="{C5166262-FD20-DC1E-E21C-E3C6C49C3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65" y="119572"/>
            <a:ext cx="2506732" cy="135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76E35CD-7773-1DC5-CB13-763AD19D2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061" y="-344810"/>
            <a:ext cx="3540369" cy="21304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5F0410-7B92-1ADC-60C1-13D7DC579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48" y="2889280"/>
            <a:ext cx="3149600" cy="965200"/>
          </a:xfrm>
          <a:prstGeom prst="rect">
            <a:avLst/>
          </a:prstGeom>
        </p:spPr>
      </p:pic>
      <p:pic>
        <p:nvPicPr>
          <p:cNvPr id="8" name="Picture 7" descr="A comparison of blue and orange bars&#10;&#10;AI-generated content may be incorrect.">
            <a:extLst>
              <a:ext uri="{FF2B5EF4-FFF2-40B4-BE49-F238E27FC236}">
                <a16:creationId xmlns:a16="http://schemas.microsoft.com/office/drawing/2014/main" id="{0294971C-A952-2B53-20E0-D008A1EF8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033" y="3068973"/>
            <a:ext cx="5452212" cy="33558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E8201E-51C7-FE95-36B6-71847E94E0F1}"/>
              </a:ext>
            </a:extLst>
          </p:cNvPr>
          <p:cNvSpPr txBox="1"/>
          <p:nvPr/>
        </p:nvSpPr>
        <p:spPr>
          <a:xfrm>
            <a:off x="1120948" y="3990109"/>
            <a:ext cx="36610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Dependence: </a:t>
            </a:r>
          </a:p>
          <a:p>
            <a:r>
              <a:rPr lang="en-US" dirty="0"/>
              <a:t>The information changes the probability. </a:t>
            </a:r>
          </a:p>
          <a:p>
            <a:r>
              <a:rPr lang="en-MX" b="1" dirty="0"/>
              <a:t>Independence:</a:t>
            </a:r>
          </a:p>
          <a:p>
            <a:r>
              <a:rPr lang="en-MX" dirty="0"/>
              <a:t>The information doesn’t have an efect</a:t>
            </a:r>
          </a:p>
        </p:txBody>
      </p:sp>
    </p:spTree>
    <p:extLst>
      <p:ext uri="{BB962C8B-B14F-4D97-AF65-F5344CB8AC3E}">
        <p14:creationId xmlns:p14="http://schemas.microsoft.com/office/powerpoint/2010/main" val="2188440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BE6A-A2BE-4261-BA7A-8180E9CF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30A7-22C7-0483-F58C-C1814F71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009" y="-527690"/>
            <a:ext cx="9950103" cy="150737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Law of Total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0FA6F-12C1-FEF3-A961-3784943FA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949" y="1785677"/>
            <a:ext cx="5374854" cy="4137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Concept: "Divide and Conquer" Strategy</a:t>
            </a:r>
          </a:p>
          <a:p>
            <a:pPr marL="0" indent="0">
              <a:buNone/>
            </a:pPr>
            <a:r>
              <a:rPr lang="en-US" dirty="0"/>
              <a:t>To calculate a </a:t>
            </a:r>
            <a:r>
              <a:rPr lang="en-US" b="1" dirty="0"/>
              <a:t>complex event (A)</a:t>
            </a:r>
            <a:r>
              <a:rPr lang="en-US" dirty="0"/>
              <a:t>, we sum its constituent parts </a:t>
            </a:r>
            <a:r>
              <a:rPr lang="en-US" b="1" dirty="0"/>
              <a:t>(Bi).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Context:</a:t>
            </a:r>
            <a:r>
              <a:rPr lang="en-US" dirty="0"/>
              <a:t> A weighted average of mutually exclusive scenarios. </a:t>
            </a:r>
            <a:endParaRPr lang="en-US" b="1" dirty="0"/>
          </a:p>
        </p:txBody>
      </p:sp>
      <p:pic>
        <p:nvPicPr>
          <p:cNvPr id="2050" name="Picture 2" descr="Logo SEP Vertical – Tecnológico Nacional de México – Pinotepa">
            <a:extLst>
              <a:ext uri="{FF2B5EF4-FFF2-40B4-BE49-F238E27FC236}">
                <a16:creationId xmlns:a16="http://schemas.microsoft.com/office/drawing/2014/main" id="{67EE9244-16C5-E8EA-6136-E63891DE1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65" y="119572"/>
            <a:ext cx="2506732" cy="135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7C8FD73-37D8-37A3-33D3-D62A3270F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061" y="-344810"/>
            <a:ext cx="3540369" cy="21304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13F41A-5C5D-5832-3CC5-16C0ED2DE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428" y="3070308"/>
            <a:ext cx="3088738" cy="717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90FDEE-AEDF-BFCC-3B39-4B728C1881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474122"/>
            <a:ext cx="3895106" cy="4610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DA8BF7-6C73-0CE3-1FC0-BC8658F32935}"/>
              </a:ext>
            </a:extLst>
          </p:cNvPr>
          <p:cNvSpPr txBox="1"/>
          <p:nvPr/>
        </p:nvSpPr>
        <p:spPr>
          <a:xfrm>
            <a:off x="10141527" y="3464526"/>
            <a:ext cx="1862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P(A) = Sum of all blue paths. </a:t>
            </a:r>
            <a:endParaRPr lang="en-MX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4798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C2717-DDDC-54F7-09AD-8D33FF60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C06F-BE8C-3E3B-BA87-958E6D43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1529" y="-572660"/>
            <a:ext cx="9950103" cy="150737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Bayes'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72E-817B-7FBC-E1CE-83D03BD1C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948" y="1785677"/>
            <a:ext cx="9950103" cy="4137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mechanism for </a:t>
            </a:r>
            <a:r>
              <a:rPr lang="en-US" b="1" dirty="0"/>
              <a:t>updating beliefs</a:t>
            </a:r>
            <a:r>
              <a:rPr lang="en-US" dirty="0"/>
              <a:t> when faced with new evidence. </a:t>
            </a:r>
          </a:p>
        </p:txBody>
      </p:sp>
      <p:pic>
        <p:nvPicPr>
          <p:cNvPr id="2050" name="Picture 2" descr="Logo SEP Vertical – Tecnológico Nacional de México – Pinotepa">
            <a:extLst>
              <a:ext uri="{FF2B5EF4-FFF2-40B4-BE49-F238E27FC236}">
                <a16:creationId xmlns:a16="http://schemas.microsoft.com/office/drawing/2014/main" id="{8F8D7ACA-D3D9-8615-B4CB-19FE7D29E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65" y="119572"/>
            <a:ext cx="2506732" cy="135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A847AF8-FB04-4504-062A-D36F6EA3F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061" y="-344810"/>
            <a:ext cx="3540369" cy="2130487"/>
          </a:xfrm>
          <a:prstGeom prst="rect">
            <a:avLst/>
          </a:prstGeom>
        </p:spPr>
      </p:pic>
      <p:sp>
        <p:nvSpPr>
          <p:cNvPr id="4" name="AutoShape 2" descr="Bayes' Theorem, P(B|A) = [P(A|B)P(B)] / P(A), inverts conditional probabilities using Prior, Likelihood, and Posterior terms.">
            <a:extLst>
              <a:ext uri="{FF2B5EF4-FFF2-40B4-BE49-F238E27FC236}">
                <a16:creationId xmlns:a16="http://schemas.microsoft.com/office/drawing/2014/main" id="{A1F70514-6324-8278-4D98-82996BD896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X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28F8BA-5152-B544-F429-600FE4621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731" y="2360334"/>
            <a:ext cx="8998538" cy="387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19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3662-8D82-D053-D7A7-7AF46A609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D2AA-5DA8-1EBE-5C90-F1D70E688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027" y="-572660"/>
            <a:ext cx="9950103" cy="150737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Bayes'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E9DC1-F06E-35FB-685B-C68D4132C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948" y="1785677"/>
            <a:ext cx="9950103" cy="4137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Intuition vs. Mathematics</a:t>
            </a:r>
          </a:p>
        </p:txBody>
      </p:sp>
      <p:pic>
        <p:nvPicPr>
          <p:cNvPr id="2050" name="Picture 2" descr="Logo SEP Vertical – Tecnológico Nacional de México – Pinotepa">
            <a:extLst>
              <a:ext uri="{FF2B5EF4-FFF2-40B4-BE49-F238E27FC236}">
                <a16:creationId xmlns:a16="http://schemas.microsoft.com/office/drawing/2014/main" id="{6571ED3E-E911-64DA-53E3-11E2D6A1F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65" y="119572"/>
            <a:ext cx="2506732" cy="135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6B23BD-B82F-341B-20A3-7FD15015C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061" y="-344810"/>
            <a:ext cx="3540369" cy="2130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C62837-2D25-75BB-9CBA-FA1DE7CE94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683" r="16742"/>
          <a:stretch>
            <a:fillRect/>
          </a:stretch>
        </p:blipFill>
        <p:spPr>
          <a:xfrm>
            <a:off x="1120948" y="2097231"/>
            <a:ext cx="4504271" cy="41376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A5FAF-E257-FC3B-1A1C-23A98899B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8904" y="1474122"/>
            <a:ext cx="5138462" cy="460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7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8F95-C527-DA39-704B-87095C691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AE96-9E3B-24BC-B643-357F4CAD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927" y="-634116"/>
            <a:ext cx="9950103" cy="150737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Relationship Between Concepts</a:t>
            </a:r>
          </a:p>
        </p:txBody>
      </p:sp>
      <p:pic>
        <p:nvPicPr>
          <p:cNvPr id="2050" name="Picture 2" descr="Logo SEP Vertical – Tecnológico Nacional de México – Pinotepa">
            <a:extLst>
              <a:ext uri="{FF2B5EF4-FFF2-40B4-BE49-F238E27FC236}">
                <a16:creationId xmlns:a16="http://schemas.microsoft.com/office/drawing/2014/main" id="{DBF86E37-22E9-14D6-3CE8-D03998312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65" y="119572"/>
            <a:ext cx="2506732" cy="135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27DBE2C-A0C7-733E-CC1D-B57C3BB26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061" y="-344810"/>
            <a:ext cx="3540369" cy="21304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183CA3-F56A-9C6F-4157-13EC9ECB9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7" y="1785677"/>
            <a:ext cx="10122525" cy="40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6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A82F-A9A6-C2D8-85AB-38E9B2C9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A713-2E3F-1D2E-4B8F-8E33AD21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783" y="-572660"/>
            <a:ext cx="9950103" cy="150737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721D4-1DDD-DB71-6AC3-B9E54285E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948" y="1785677"/>
            <a:ext cx="9950103" cy="4137607"/>
          </a:xfrm>
        </p:spPr>
        <p:txBody>
          <a:bodyPr>
            <a:normAutofit/>
          </a:bodyPr>
          <a:lstStyle/>
          <a:p>
            <a:r>
              <a:rPr lang="en-US" dirty="0"/>
              <a:t>Devore, J. L. (2008). Probability and Statistics for Engineering and Science (7th ed.). Cengage Learning.</a:t>
            </a:r>
          </a:p>
        </p:txBody>
      </p:sp>
      <p:pic>
        <p:nvPicPr>
          <p:cNvPr id="2050" name="Picture 2" descr="Logo SEP Vertical – Tecnológico Nacional de México – Pinotepa">
            <a:extLst>
              <a:ext uri="{FF2B5EF4-FFF2-40B4-BE49-F238E27FC236}">
                <a16:creationId xmlns:a16="http://schemas.microsoft.com/office/drawing/2014/main" id="{245D42EA-D0E6-0AD8-DD02-E2C271BA4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65" y="119572"/>
            <a:ext cx="2506732" cy="135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A3EA182-8A0F-3273-77FF-4233E575A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061" y="-344810"/>
            <a:ext cx="3540369" cy="213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9359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203</Words>
  <Application>Microsoft Macintosh PowerPoint</Application>
  <PresentationFormat>Widescreen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Avenir Next LT Pro</vt:lpstr>
      <vt:lpstr>Avenir Next LT Pro Light</vt:lpstr>
      <vt:lpstr>BlocksVTI</vt:lpstr>
      <vt:lpstr>Probability measure on random variables</vt:lpstr>
      <vt:lpstr>Conditional Probability</vt:lpstr>
      <vt:lpstr>Conditional Probability</vt:lpstr>
      <vt:lpstr>Law of Total Probability</vt:lpstr>
      <vt:lpstr>Bayes' Theorem</vt:lpstr>
      <vt:lpstr>Bayes' Theorem</vt:lpstr>
      <vt:lpstr>Relationship Between Concepts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SCARLETTE BERENICE ALCARAZ MUNIZ</dc:creator>
  <cp:lastModifiedBy>SCARLETTE BERENICE ALCARAZ MUNIZ</cp:lastModifiedBy>
  <cp:revision>1</cp:revision>
  <dcterms:created xsi:type="dcterms:W3CDTF">2026-02-10T17:28:26Z</dcterms:created>
  <dcterms:modified xsi:type="dcterms:W3CDTF">2026-02-11T04:13:39Z</dcterms:modified>
</cp:coreProperties>
</file>